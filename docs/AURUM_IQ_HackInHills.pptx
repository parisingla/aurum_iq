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IBM Plex Sans"/>
      <p:bold r:id="rId14"/>
      <p:boldItalic r:id="rId15"/>
    </p:embeddedFont>
    <p:embeddedFont>
      <p:font typeface="Caveat"/>
      <p:regular r:id="rId16"/>
      <p:bold r:id="rId17"/>
    </p:embeddedFont>
    <p:embeddedFont>
      <p:font typeface="Montserrat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IBMPlexSans-bold.fntdata"/><Relationship Id="rId15" Type="http://schemas.openxmlformats.org/officeDocument/2006/relationships/font" Target="fonts/IBMPlexSans-boldItalic.fntdata"/><Relationship Id="rId16" Type="http://schemas.openxmlformats.org/officeDocument/2006/relationships/font" Target="fonts/Caveat-regular.fntdata"/><Relationship Id="rId17" Type="http://schemas.openxmlformats.org/officeDocument/2006/relationships/font" Target="fonts/Caveat-bold.fntdata"/><Relationship Id="rId18" Type="http://schemas.openxmlformats.org/officeDocument/2006/relationships/font" Target="fonts/Montserrat-bold.fntdata"/><Relationship Id="rId19" Type="http://schemas.openxmlformats.org/officeDocument/2006/relationships/font" Target="fonts/Montserra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Spread z-score</c:v>
                </c:pt>
              </c:strCache>
            </c:strRef>
          </c:tx>
          <c:spPr>
            <a:ln w="31750">
              <a:solidFill>
                <a:srgbClr val="14213D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-0.12</c:v>
                </c:pt>
                <c:pt idx="1">
                  <c:v>0.41</c:v>
                </c:pt>
                <c:pt idx="2">
                  <c:v>0.25</c:v>
                </c:pt>
                <c:pt idx="3">
                  <c:v>0.37</c:v>
                </c:pt>
                <c:pt idx="4">
                  <c:v>0.23</c:v>
                </c:pt>
                <c:pt idx="5">
                  <c:v>0.66</c:v>
                </c:pt>
                <c:pt idx="6">
                  <c:v>1.34</c:v>
                </c:pt>
                <c:pt idx="7">
                  <c:v>1.08</c:v>
                </c:pt>
                <c:pt idx="8">
                  <c:v>1.37</c:v>
                </c:pt>
                <c:pt idx="9">
                  <c:v>0.99</c:v>
                </c:pt>
                <c:pt idx="10">
                  <c:v>1.0</c:v>
                </c:pt>
                <c:pt idx="11">
                  <c:v>0.81</c:v>
                </c:pt>
                <c:pt idx="12">
                  <c:v>-0.14</c:v>
                </c:pt>
                <c:pt idx="13">
                  <c:v>0.85</c:v>
                </c:pt>
                <c:pt idx="14">
                  <c:v>0.53</c:v>
                </c:pt>
                <c:pt idx="15">
                  <c:v>0.35</c:v>
                </c:pt>
                <c:pt idx="16">
                  <c:v>-0.81</c:v>
                </c:pt>
                <c:pt idx="17">
                  <c:v>-1.01</c:v>
                </c:pt>
                <c:pt idx="18">
                  <c:v>-0.8</c:v>
                </c:pt>
                <c:pt idx="19">
                  <c:v>-0.76</c:v>
                </c:pt>
                <c:pt idx="20">
                  <c:v>-0.54</c:v>
                </c:pt>
                <c:pt idx="21">
                  <c:v>-0.81</c:v>
                </c:pt>
                <c:pt idx="22">
                  <c:v>-0.62</c:v>
                </c:pt>
                <c:pt idx="23">
                  <c:v>-1.18</c:v>
                </c:pt>
                <c:pt idx="24">
                  <c:v>-0.76</c:v>
                </c:pt>
                <c:pt idx="25">
                  <c:v>-0.69</c:v>
                </c:pt>
                <c:pt idx="26">
                  <c:v>-1.09</c:v>
                </c:pt>
                <c:pt idx="27">
                  <c:v>0.08</c:v>
                </c:pt>
                <c:pt idx="28">
                  <c:v>-0.32</c:v>
                </c:pt>
                <c:pt idx="29">
                  <c:v>0.12</c:v>
                </c:pt>
                <c:pt idx="30">
                  <c:v>-0.53</c:v>
                </c:pt>
                <c:pt idx="31">
                  <c:v>-0.41</c:v>
                </c:pt>
                <c:pt idx="32">
                  <c:v>-0.05</c:v>
                </c:pt>
                <c:pt idx="33">
                  <c:v>0.23</c:v>
                </c:pt>
                <c:pt idx="34">
                  <c:v>0.73</c:v>
                </c:pt>
                <c:pt idx="35">
                  <c:v>0.7</c:v>
                </c:pt>
                <c:pt idx="36">
                  <c:v>0.51</c:v>
                </c:pt>
                <c:pt idx="37">
                  <c:v>0.38</c:v>
                </c:pt>
                <c:pt idx="38">
                  <c:v>0.64</c:v>
                </c:pt>
                <c:pt idx="39">
                  <c:v>1.45</c:v>
                </c:pt>
                <c:pt idx="40">
                  <c:v>0.53</c:v>
                </c:pt>
                <c:pt idx="41">
                  <c:v>3.4</c:v>
                </c:pt>
                <c:pt idx="42">
                  <c:v>2.7</c:v>
                </c:pt>
                <c:pt idx="43">
                  <c:v>-0.01</c:v>
                </c:pt>
                <c:pt idx="44">
                  <c:v>0.55</c:v>
                </c:pt>
                <c:pt idx="45">
                  <c:v>0.96</c:v>
                </c:pt>
                <c:pt idx="46">
                  <c:v>-0.71</c:v>
                </c:pt>
                <c:pt idx="47">
                  <c:v>-0.12</c:v>
                </c:pt>
                <c:pt idx="48">
                  <c:v>-0.2</c:v>
                </c:pt>
                <c:pt idx="49">
                  <c:v>-0.7</c:v>
                </c:pt>
                <c:pt idx="50">
                  <c:v>-0.27</c:v>
                </c:pt>
                <c:pt idx="51">
                  <c:v>-0.66</c:v>
                </c:pt>
                <c:pt idx="52">
                  <c:v>-1.4</c:v>
                </c:pt>
                <c:pt idx="53">
                  <c:v>-0.46</c:v>
                </c:pt>
                <c:pt idx="54">
                  <c:v>-0.58</c:v>
                </c:pt>
                <c:pt idx="55">
                  <c:v>-0.47</c:v>
                </c:pt>
                <c:pt idx="56">
                  <c:v>-0.23</c:v>
                </c:pt>
                <c:pt idx="57">
                  <c:v>-0.66</c:v>
                </c:pt>
                <c:pt idx="58">
                  <c:v>-0.69</c:v>
                </c:pt>
                <c:pt idx="59">
                  <c:v>-1.21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Upper threshold (+2)</c:v>
                </c:pt>
              </c:strCache>
            </c:strRef>
          </c:tx>
          <c:spPr>
            <a:ln w="19050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threshold (-2)</c:v>
                </c:pt>
              </c:strCache>
            </c:strRef>
          </c:tx>
          <c:spPr>
            <a:ln w="19050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strCache>
            </c:strRef>
          </c:cat>
          <c:val>
            <c:numRef>
              <c:f>Sheet1!$D$2:$D$61</c:f>
              <c:numCache>
                <c:formatCode>General</c:formatCode>
                <c:ptCount val="60"/>
                <c:pt idx="0">
                  <c:v>-2</c:v>
                </c:pt>
                <c:pt idx="1">
                  <c:v>-2</c:v>
                </c:pt>
                <c:pt idx="2">
                  <c:v>-2</c:v>
                </c:pt>
                <c:pt idx="3">
                  <c:v>-2</c:v>
                </c:pt>
                <c:pt idx="4">
                  <c:v>-2</c:v>
                </c:pt>
                <c:pt idx="5">
                  <c:v>-2</c:v>
                </c:pt>
                <c:pt idx="6">
                  <c:v>-2</c:v>
                </c:pt>
                <c:pt idx="7">
                  <c:v>-2</c:v>
                </c:pt>
                <c:pt idx="8">
                  <c:v>-2</c:v>
                </c:pt>
                <c:pt idx="9">
                  <c:v>-2</c:v>
                </c:pt>
                <c:pt idx="10">
                  <c:v>-2</c:v>
                </c:pt>
                <c:pt idx="11">
                  <c:v>-2</c:v>
                </c:pt>
                <c:pt idx="12">
                  <c:v>-2</c:v>
                </c:pt>
                <c:pt idx="13">
                  <c:v>-2</c:v>
                </c:pt>
                <c:pt idx="14">
                  <c:v>-2</c:v>
                </c:pt>
                <c:pt idx="15">
                  <c:v>-2</c:v>
                </c:pt>
                <c:pt idx="16">
                  <c:v>-2</c:v>
                </c:pt>
                <c:pt idx="17">
                  <c:v>-2</c:v>
                </c:pt>
                <c:pt idx="18">
                  <c:v>-2</c:v>
                </c:pt>
                <c:pt idx="19">
                  <c:v>-2</c:v>
                </c:pt>
                <c:pt idx="20">
                  <c:v>-2</c:v>
                </c:pt>
                <c:pt idx="21">
                  <c:v>-2</c:v>
                </c:pt>
                <c:pt idx="22">
                  <c:v>-2</c:v>
                </c:pt>
                <c:pt idx="23">
                  <c:v>-2</c:v>
                </c:pt>
                <c:pt idx="24">
                  <c:v>-2</c:v>
                </c:pt>
                <c:pt idx="25">
                  <c:v>-2</c:v>
                </c:pt>
                <c:pt idx="26">
                  <c:v>-2</c:v>
                </c:pt>
                <c:pt idx="27">
                  <c:v>-2</c:v>
                </c:pt>
                <c:pt idx="28">
                  <c:v>-2</c:v>
                </c:pt>
                <c:pt idx="29">
                  <c:v>-2</c:v>
                </c:pt>
                <c:pt idx="30">
                  <c:v>-2</c:v>
                </c:pt>
                <c:pt idx="31">
                  <c:v>-2</c:v>
                </c:pt>
                <c:pt idx="32">
                  <c:v>-2</c:v>
                </c:pt>
                <c:pt idx="33">
                  <c:v>-2</c:v>
                </c:pt>
                <c:pt idx="34">
                  <c:v>-2</c:v>
                </c:pt>
                <c:pt idx="35">
                  <c:v>-2</c:v>
                </c:pt>
                <c:pt idx="36">
                  <c:v>-2</c:v>
                </c:pt>
                <c:pt idx="37">
                  <c:v>-2</c:v>
                </c:pt>
                <c:pt idx="38">
                  <c:v>-2</c:v>
                </c:pt>
                <c:pt idx="39">
                  <c:v>-2</c:v>
                </c:pt>
                <c:pt idx="40">
                  <c:v>-2</c:v>
                </c:pt>
                <c:pt idx="41">
                  <c:v>-2</c:v>
                </c:pt>
                <c:pt idx="42">
                  <c:v>-2</c:v>
                </c:pt>
                <c:pt idx="43">
                  <c:v>-2</c:v>
                </c:pt>
                <c:pt idx="44">
                  <c:v>-2</c:v>
                </c:pt>
                <c:pt idx="45">
                  <c:v>-2</c:v>
                </c:pt>
                <c:pt idx="46">
                  <c:v>-2</c:v>
                </c:pt>
                <c:pt idx="47">
                  <c:v>-2</c:v>
                </c:pt>
                <c:pt idx="48">
                  <c:v>-2</c:v>
                </c:pt>
                <c:pt idx="49">
                  <c:v>-2</c:v>
                </c:pt>
                <c:pt idx="50">
                  <c:v>-2</c:v>
                </c:pt>
                <c:pt idx="51">
                  <c:v>-2</c:v>
                </c:pt>
                <c:pt idx="52">
                  <c:v>-2</c:v>
                </c:pt>
                <c:pt idx="53">
                  <c:v>-2</c:v>
                </c:pt>
                <c:pt idx="54">
                  <c:v>-2</c:v>
                </c:pt>
                <c:pt idx="55">
                  <c:v>-2</c:v>
                </c:pt>
                <c:pt idx="56">
                  <c:v>-2</c:v>
                </c:pt>
                <c:pt idx="57">
                  <c:v>-2</c:v>
                </c:pt>
                <c:pt idx="58">
                  <c:v>-2</c:v>
                </c:pt>
                <c:pt idx="59">
                  <c:v>-2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0"/>
          <c:min val="-4.0"/>
        </c:scaling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2.0"/>
      </c:valAx>
    </c:plotArea>
    <c:plotVisOnly val="1"/>
    <c:dispBlanksAs val="gap"/>
    <c:showDLblsOverMax val="0"/>
  </c:chart>
  <c:txPr>
    <a:bodyPr/>
    <a:lstStyle/>
    <a:p>
      <a:pPr>
        <a:defRPr sz="1300">
          <a:solidFill>
            <a:srgbClr val="5B6B80"/>
          </a:solidFill>
          <a:latin typeface="IBM Plex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822960" y="4480560"/>
            <a:ext cx="1645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6400" b="1">
                <a:solidFill>
                  <a:srgbClr val="14213D"/>
                </a:solidFill>
                <a:latin typeface="Montserrat"/>
              </a:rPr>
              <a:t>AURUM IQ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60" y="5715000"/>
            <a:ext cx="1554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>
                <a:solidFill>
                  <a:srgbClr val="5B6B80"/>
                </a:solidFill>
                <a:latin typeface="IBM Plex Sans"/>
              </a:rPr>
              <a:t>Explainable relative-value intelligence for MCX gold futures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2960" y="69037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C9931B"/>
                </a:solidFill>
                <a:latin typeface="IBM Plex Sans"/>
              </a:rPr>
              <a:t>Team TimelessXO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22960" y="7543800"/>
            <a:ext cx="5303520" cy="17373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43000" y="7909560"/>
            <a:ext cx="822960" cy="82296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PS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40280" y="7955279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13D"/>
                </a:solidFill>
                <a:latin typeface="IBM Plex Sans"/>
              </a:rPr>
              <a:t>Pari Singla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40280" y="850392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5B6B80"/>
                </a:solidFill>
                <a:latin typeface="IBM Plex Sans"/>
              </a:rPr>
              <a:t>AI/ML developer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400800" y="7543800"/>
            <a:ext cx="5303520" cy="17373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720840" y="7909560"/>
            <a:ext cx="822960" cy="82296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HS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18120" y="7955279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13D"/>
                </a:solidFill>
                <a:latin typeface="IBM Plex Sans"/>
              </a:rPr>
              <a:t>Himanshu Solanki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818120" y="850392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5B6B80"/>
                </a:solidFill>
                <a:latin typeface="IBM Plex Sans"/>
              </a:rPr>
              <a:t>Backend developer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1978640" y="7543800"/>
            <a:ext cx="5303520" cy="17373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2298680" y="7909560"/>
            <a:ext cx="822960" cy="82296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PJ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395960" y="7955279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13D"/>
                </a:solidFill>
                <a:latin typeface="IBM Plex Sans"/>
              </a:rPr>
              <a:t>Prerak Jain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395960" y="850392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5B6B80"/>
                </a:solidFill>
                <a:latin typeface="IBM Plex Sans"/>
              </a:rPr>
              <a:t>Frontend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822960" y="1508760"/>
            <a:ext cx="1664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14213D"/>
                </a:solidFill>
                <a:latin typeface="Montserrat"/>
              </a:rPr>
              <a:t>Four gold contracts, one metal, four different bases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2960" y="2514600"/>
            <a:ext cx="1600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5B6B80"/>
                </a:solidFill>
                <a:latin typeface="IBM Plex Sans"/>
              </a:rPr>
              <a:t>Commodity Derivatives Intelligence: prices cannot be compared by simple subtraction.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" y="3520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5B6B80"/>
                </a:solidFill>
                <a:latin typeface="IBM Plex Sans"/>
              </a:rPr>
              <a:t>Contract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566160" y="3520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5B6B80"/>
                </a:solidFill>
                <a:latin typeface="IBM Plex Sans"/>
              </a:rPr>
              <a:t>Trading unit (bar scaled to grams)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521440" y="3520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5B6B80"/>
                </a:solidFill>
                <a:latin typeface="IBM Plex Sans"/>
              </a:rPr>
              <a:t>Quoted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624560" y="3520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5B6B80"/>
                </a:solidFill>
                <a:latin typeface="IBM Plex Sans"/>
              </a:rPr>
              <a:t>Purity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5179040" y="3520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5B6B80"/>
                </a:solidFill>
                <a:latin typeface="IBM Plex Sans"/>
              </a:rPr>
              <a:t>Expiry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22960" y="3977639"/>
            <a:ext cx="16642080" cy="27432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22960" y="416052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13D"/>
                </a:solidFill>
                <a:latin typeface="IBM Plex Sans"/>
              </a:rPr>
              <a:t>GOLDM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566160" y="4251959"/>
            <a:ext cx="5943600" cy="384048"/>
          </a:xfrm>
          <a:prstGeom prst="rect">
            <a:avLst/>
          </a:prstGeom>
          <a:solidFill>
            <a:srgbClr val="C99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692640" y="416052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100 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521440" y="416052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per 10 g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624560" y="416052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995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179040" y="416052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3rd-5th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502920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13D"/>
                </a:solidFill>
                <a:latin typeface="IBM Plex Sans"/>
              </a:rPr>
              <a:t>GOLDTEN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566160" y="5120640"/>
            <a:ext cx="594360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343400" y="502920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10 g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521440" y="502920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per 10 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624560" y="502920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999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179040" y="502920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27th-31st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2960" y="5897879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13D"/>
                </a:solidFill>
                <a:latin typeface="IBM Plex Sans"/>
              </a:rPr>
              <a:t>GOLDGUINEA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566160" y="5989319"/>
            <a:ext cx="475488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224528" y="5897879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8 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521440" y="5897879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per 8 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624560" y="5897879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999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5179040" y="5897879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27th-31st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22960" y="6766559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13D"/>
                </a:solidFill>
                <a:latin typeface="IBM Plex Sans"/>
              </a:rPr>
              <a:t>GOLDPETAL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566160" y="6857999"/>
            <a:ext cx="73152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822191" y="6766559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1 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521440" y="6766559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per 1 g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3624560" y="6766559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999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5179040" y="6766559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27th-31st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22960" y="7818120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43000" y="80467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14213D"/>
                </a:solidFill>
                <a:latin typeface="IBM Plex Sans"/>
              </a:rPr>
              <a:t>Same gold, different basis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43000" y="859536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B6B80"/>
                </a:solidFill>
                <a:latin typeface="IBM Plex Sans"/>
              </a:rPr>
              <a:t>Unit, quote basis and purity differ, so a raw price gap mixes real mispricing with contract design.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400800" y="7818120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720840" y="80467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14213D"/>
                </a:solidFill>
                <a:latin typeface="IBM Plex Sans"/>
              </a:rPr>
              <a:t>Expiry windows differ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720840" y="859536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B6B80"/>
                </a:solidFill>
                <a:latin typeface="IBM Plex Sans"/>
              </a:rPr>
              <a:t>GOLDM expires in the 3rd-5th; the other three in the 27th-31st. Contracts must be tracked by expiry.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1978640" y="7818120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2298680" y="80467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14213D"/>
                </a:solidFill>
                <a:latin typeface="IBM Plex Sans"/>
              </a:rPr>
              <a:t>Short overlap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298680" y="859536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B6B80"/>
                </a:solidFill>
                <a:latin typeface="IBM Plex Sans"/>
              </a:rPr>
              <a:t>GOLDTEN only exists since its 2025 listing, so shared history is limited and must be checked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TextBox 107"/>
          <p:cNvSpPr txBox="1"/>
          <p:nvPr/>
        </p:nvSpPr>
        <p:spPr>
          <a:xfrm>
            <a:off x="822960" y="1508760"/>
            <a:ext cx="1664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14213D"/>
                </a:solidFill>
                <a:latin typeface="Montserrat"/>
              </a:rPr>
              <a:t>AURUM IQ separates real signals from contract noise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2960" y="2514600"/>
            <a:ext cx="1600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5B6B80"/>
                </a:solidFill>
                <a:latin typeface="IBM Plex Sans"/>
              </a:rPr>
              <a:t>Normalise, flag, then test it honestly before anyone trusts it.</a:t>
            </a:r>
          </a:p>
        </p:txBody>
      </p:sp>
      <p:sp>
        <p:nvSpPr>
          <p:cNvPr id="110" name="Oval 109"/>
          <p:cNvSpPr/>
          <p:nvPr/>
        </p:nvSpPr>
        <p:spPr>
          <a:xfrm>
            <a:off x="822960" y="3520440"/>
            <a:ext cx="685800" cy="6858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783080" y="342900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4213D"/>
                </a:solidFill>
                <a:latin typeface="IBM Plex Sans"/>
              </a:rPr>
              <a:t>Validate the data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783080" y="393192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B6B80"/>
                </a:solidFill>
                <a:latin typeface="IBM Plex Sans"/>
              </a:rPr>
              <a:t>Check dates, padded symbols, gaps and stale prices from the MCX Bhavcopy.</a:t>
            </a:r>
          </a:p>
        </p:txBody>
      </p:sp>
      <p:sp>
        <p:nvSpPr>
          <p:cNvPr id="113" name="Oval 112"/>
          <p:cNvSpPr/>
          <p:nvPr/>
        </p:nvSpPr>
        <p:spPr>
          <a:xfrm>
            <a:off x="822960" y="4892040"/>
            <a:ext cx="685800" cy="6858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783080" y="480060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4213D"/>
                </a:solidFill>
                <a:latin typeface="IBM Plex Sans"/>
              </a:rPr>
              <a:t>Normalise to one basis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783080" y="530352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B6B80"/>
                </a:solidFill>
                <a:latin typeface="IBM Plex Sans"/>
              </a:rPr>
              <a:t>Handle size, quote basis and purity per contract; keep the original price.</a:t>
            </a:r>
          </a:p>
        </p:txBody>
      </p:sp>
      <p:sp>
        <p:nvSpPr>
          <p:cNvPr id="116" name="Oval 115"/>
          <p:cNvSpPr/>
          <p:nvPr/>
        </p:nvSpPr>
        <p:spPr>
          <a:xfrm>
            <a:off x="822960" y="6263640"/>
            <a:ext cx="685800" cy="6858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783080" y="617220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4213D"/>
                </a:solidFill>
                <a:latin typeface="IBM Plex Sans"/>
              </a:rPr>
              <a:t>Flag unusual spreads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783080" y="667512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B6B80"/>
                </a:solidFill>
                <a:latin typeface="IBM Plex Sans"/>
              </a:rPr>
              <a:t>Rolling z-score, percentile and median/MAD, each with a reason.</a:t>
            </a:r>
          </a:p>
        </p:txBody>
      </p:sp>
      <p:sp>
        <p:nvSpPr>
          <p:cNvPr id="119" name="Oval 118"/>
          <p:cNvSpPr/>
          <p:nvPr/>
        </p:nvSpPr>
        <p:spPr>
          <a:xfrm>
            <a:off x="822960" y="7635240"/>
            <a:ext cx="685800" cy="6858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783080" y="754380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4213D"/>
                </a:solidFill>
                <a:latin typeface="IBM Plex Sans"/>
              </a:rPr>
              <a:t>Test net of costs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83080" y="804672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B6B80"/>
                </a:solidFill>
                <a:latin typeface="IBM Plex Sans"/>
              </a:rPr>
              <a:t>Walk-forward replay, thin-day liquidity, strategy kept apart from gold moves.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869680" y="3520440"/>
            <a:ext cx="859536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144000" y="3703320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4213D"/>
                </a:solidFill>
                <a:latin typeface="IBM Plex Sans"/>
              </a:rPr>
              <a:t>Spread z-score, normalised pair</a:t>
            </a:r>
          </a:p>
        </p:txBody>
      </p:sp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9052560" y="4206240"/>
          <a:ext cx="8229600" cy="393192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9144000" y="8183879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B80"/>
                </a:solidFill>
                <a:latin typeface="IBM Plex Sans"/>
              </a:rPr>
              <a:t>Illustrative synthetic data to show the alert view. Not MCX results.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22960" y="9189720"/>
            <a:ext cx="16642080" cy="82296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188720" y="9189720"/>
            <a:ext cx="159105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BM Plex Sans"/>
              </a:rPr>
              <a:t>It can reject false signals, and show why an attractive spread is not tradable.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822960" y="1508760"/>
            <a:ext cx="1664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14213D"/>
                </a:solidFill>
                <a:latin typeface="Montserrat"/>
              </a:rPr>
              <a:t>Architecture: from Bhavcopy file to explainable alert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22960" y="2926080"/>
            <a:ext cx="2560320" cy="2377440"/>
          </a:xfrm>
          <a:prstGeom prst="roundRect">
            <a:avLst>
              <a:gd name="adj" fmla="val 7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51560" y="31546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FFFFFF"/>
                </a:solidFill>
                <a:latin typeface="IBM Plex Sans"/>
              </a:rPr>
              <a:t>Ingest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51560" y="388620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BM Plex Sans"/>
              </a:rPr>
              <a:t>Upload and validate MCX Bhavcopy</a:t>
            </a:r>
          </a:p>
        </p:txBody>
      </p:sp>
      <p:sp>
        <p:nvSpPr>
          <p:cNvPr id="121" name="Right Arrow 120"/>
          <p:cNvSpPr/>
          <p:nvPr/>
        </p:nvSpPr>
        <p:spPr>
          <a:xfrm>
            <a:off x="3410711" y="3931920"/>
            <a:ext cx="201168" cy="292608"/>
          </a:xfrm>
          <a:prstGeom prst="rightArrow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3639312" y="2926080"/>
            <a:ext cx="2560320" cy="2377440"/>
          </a:xfrm>
          <a:prstGeom prst="roundRect">
            <a:avLst>
              <a:gd name="adj" fmla="val 7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867912" y="31546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FFFFFF"/>
                </a:solidFill>
                <a:latin typeface="IBM Plex Sans"/>
              </a:rPr>
              <a:t>Metadata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67912" y="388620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BM Plex Sans"/>
              </a:rPr>
              <a:t>Contract specs with dates</a:t>
            </a:r>
          </a:p>
        </p:txBody>
      </p:sp>
      <p:sp>
        <p:nvSpPr>
          <p:cNvPr id="125" name="Right Arrow 124"/>
          <p:cNvSpPr/>
          <p:nvPr/>
        </p:nvSpPr>
        <p:spPr>
          <a:xfrm>
            <a:off x="6227064" y="3931920"/>
            <a:ext cx="201168" cy="292608"/>
          </a:xfrm>
          <a:prstGeom prst="rightArrow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6455664" y="2926080"/>
            <a:ext cx="2560320" cy="2377440"/>
          </a:xfrm>
          <a:prstGeom prst="roundRect">
            <a:avLst>
              <a:gd name="adj" fmla="val 7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684264" y="31546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FFFFFF"/>
                </a:solidFill>
                <a:latin typeface="IBM Plex Sans"/>
              </a:rPr>
              <a:t>Normalise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684264" y="388620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BM Plex Sans"/>
              </a:rPr>
              <a:t>Common basis, formula logged</a:t>
            </a:r>
          </a:p>
        </p:txBody>
      </p:sp>
      <p:sp>
        <p:nvSpPr>
          <p:cNvPr id="129" name="Right Arrow 128"/>
          <p:cNvSpPr/>
          <p:nvPr/>
        </p:nvSpPr>
        <p:spPr>
          <a:xfrm>
            <a:off x="9043415" y="3931920"/>
            <a:ext cx="201168" cy="292608"/>
          </a:xfrm>
          <a:prstGeom prst="rightArrow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9272016" y="2926080"/>
            <a:ext cx="2560320" cy="2377440"/>
          </a:xfrm>
          <a:prstGeom prst="roundRect">
            <a:avLst>
              <a:gd name="adj" fmla="val 7000"/>
            </a:avLst>
          </a:prstGeom>
          <a:solidFill>
            <a:srgbClr val="C99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500616" y="31546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FFFFFF"/>
                </a:solidFill>
                <a:latin typeface="IBM Plex Sans"/>
              </a:rPr>
              <a:t>Analytics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0616" y="388620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BM Plex Sans"/>
              </a:rPr>
              <a:t>Spreads, z-score, anomalies</a:t>
            </a:r>
          </a:p>
        </p:txBody>
      </p:sp>
      <p:sp>
        <p:nvSpPr>
          <p:cNvPr id="133" name="Right Arrow 132"/>
          <p:cNvSpPr/>
          <p:nvPr/>
        </p:nvSpPr>
        <p:spPr>
          <a:xfrm>
            <a:off x="11859768" y="3931920"/>
            <a:ext cx="201168" cy="292608"/>
          </a:xfrm>
          <a:prstGeom prst="rightArrow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12088368" y="2926080"/>
            <a:ext cx="2560320" cy="2377440"/>
          </a:xfrm>
          <a:prstGeom prst="roundRect">
            <a:avLst>
              <a:gd name="adj" fmla="val 7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2316968" y="31546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FFFFFF"/>
                </a:solidFill>
                <a:latin typeface="IBM Plex Sans"/>
              </a:rPr>
              <a:t>Backtest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316968" y="388620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BM Plex Sans"/>
              </a:rPr>
              <a:t>Walk-forward, net of costs</a:t>
            </a:r>
          </a:p>
        </p:txBody>
      </p:sp>
      <p:sp>
        <p:nvSpPr>
          <p:cNvPr id="137" name="Right Arrow 136"/>
          <p:cNvSpPr/>
          <p:nvPr/>
        </p:nvSpPr>
        <p:spPr>
          <a:xfrm>
            <a:off x="14676120" y="3931920"/>
            <a:ext cx="201168" cy="292608"/>
          </a:xfrm>
          <a:prstGeom prst="rightArrow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4904720" y="2926080"/>
            <a:ext cx="2560320" cy="2377440"/>
          </a:xfrm>
          <a:prstGeom prst="roundRect">
            <a:avLst>
              <a:gd name="adj" fmla="val 7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5133320" y="31546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FFFFFF"/>
                </a:solidFill>
                <a:latin typeface="IBM Plex Sans"/>
              </a:rPr>
              <a:t>API + UI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5133320" y="388620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BM Plex Sans"/>
              </a:rPr>
              <a:t>FastAPI to dashboard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2960" y="594360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1">
                <a:solidFill>
                  <a:srgbClr val="14213D"/>
                </a:solidFill>
                <a:latin typeface="IBM Plex Sans"/>
              </a:rPr>
              <a:t>Stack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22960" y="6537960"/>
            <a:ext cx="5303520" cy="27432"/>
          </a:xfrm>
          <a:prstGeom prst="rect">
            <a:avLst/>
          </a:prstGeom>
          <a:solidFill>
            <a:srgbClr val="C99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22960" y="6766560"/>
            <a:ext cx="53035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Next.js, TypeScript, Recharts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FastAPI, pandas, NumPy, SciPy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PostgreSQL or SQLite, pytest, Docker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400800" y="594360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1">
                <a:solidFill>
                  <a:srgbClr val="14213D"/>
                </a:solidFill>
                <a:latin typeface="IBM Plex Sans"/>
              </a:rPr>
              <a:t>Data flow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400800" y="6537960"/>
            <a:ext cx="5303520" cy="27432"/>
          </a:xfrm>
          <a:prstGeom prst="rect">
            <a:avLst/>
          </a:prstGeom>
          <a:solidFill>
            <a:srgbClr val="C99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00800" y="6766560"/>
            <a:ext cx="53035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Raw file to validated observations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Normalised prices, original kept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Spreads and alerts, then backtest runs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978640" y="594360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1">
                <a:solidFill>
                  <a:srgbClr val="14213D"/>
                </a:solidFill>
                <a:latin typeface="IBM Plex Sans"/>
              </a:rPr>
              <a:t>Data source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978640" y="6537960"/>
            <a:ext cx="5303520" cy="27432"/>
          </a:xfrm>
          <a:prstGeom prst="rect">
            <a:avLst/>
          </a:prstGeom>
          <a:solidFill>
            <a:srgbClr val="C99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978640" y="6766560"/>
            <a:ext cx="53035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MCX Daily Bhavcopy: symbol, date, expiry, OHLC, volume, open interest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No API key needed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Optional LLM explanations; works without 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TextBox 125"/>
          <p:cNvSpPr txBox="1"/>
          <p:nvPr/>
        </p:nvSpPr>
        <p:spPr>
          <a:xfrm>
            <a:off x="822960" y="1508760"/>
            <a:ext cx="1664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14213D"/>
                </a:solidFill>
                <a:latin typeface="Montserrat"/>
              </a:rPr>
              <a:t>Built for people who need to trust a spread before acting on it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22960" y="2926080"/>
            <a:ext cx="5303520" cy="42976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88720" y="32461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4213D"/>
                </a:solidFill>
                <a:latin typeface="IBM Plex Sans"/>
              </a:rPr>
              <a:t>Who uses it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88720" y="411480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Commodity traders and derivatives researchers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Broker and fintech research desks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Students and quant analysts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400800" y="2926080"/>
            <a:ext cx="5303520" cy="42976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766560" y="32461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4213D"/>
                </a:solidFill>
                <a:latin typeface="IBM Plex Sans"/>
              </a:rPr>
              <a:t>How they use it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766560" y="411480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Load a Bhavcopy file and pick two gold contracts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Read the normalised spread, alerts and data warnings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Replay the signal net of costs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1978640" y="2926080"/>
            <a:ext cx="5303520" cy="42976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2344400" y="32461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4213D"/>
                </a:solidFill>
                <a:latin typeface="IBM Plex Sans"/>
              </a:rPr>
              <a:t>What changes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344400" y="411480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Fewer false mispricing calls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Every alert traces to a calculation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4213D"/>
                </a:solidFill>
                <a:latin typeface="IBM Plex Sans"/>
              </a:rPr>
              <a:t>A clear no-edge answer when there is none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2960" y="7772400"/>
            <a:ext cx="1664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B6B80"/>
                </a:solidFill>
                <a:latin typeface="IBM Plex Sans"/>
              </a:rPr>
              <a:t>Existing tools: charting terminals, broker dashboards and generic backtesters mostly show raw prices. We still need to verify the landscape before claiming uniqueness.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TextBox 134"/>
          <p:cNvSpPr txBox="1"/>
          <p:nvPr/>
        </p:nvSpPr>
        <p:spPr>
          <a:xfrm>
            <a:off x="822960" y="1508760"/>
            <a:ext cx="1664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14213D"/>
                </a:solidFill>
                <a:latin typeface="Montserrat"/>
              </a:rPr>
              <a:t>Roadmap: working prototype first, polish second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188720" y="3657600"/>
            <a:ext cx="15910559" cy="4572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22960" y="3383280"/>
            <a:ext cx="594360" cy="59436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22960" y="425196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C9931B"/>
                </a:solidFill>
                <a:latin typeface="IBM Plex Sans"/>
              </a:rPr>
              <a:t>18-24 Oct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22960" y="475488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4213D"/>
                </a:solidFill>
                <a:latin typeface="IBM Plex Sans"/>
              </a:rPr>
              <a:t>Prototype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22960" y="5532120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Bhavcopy ingest and checks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Contract metadata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Normalisation</a:t>
            </a:r>
          </a:p>
        </p:txBody>
      </p:sp>
      <p:sp>
        <p:nvSpPr>
          <p:cNvPr id="141" name="Oval 140"/>
          <p:cNvSpPr/>
          <p:nvPr/>
        </p:nvSpPr>
        <p:spPr>
          <a:xfrm>
            <a:off x="6400800" y="3383280"/>
            <a:ext cx="594360" cy="59436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00800" y="425196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C9931B"/>
                </a:solidFill>
                <a:latin typeface="IBM Plex Sans"/>
              </a:rPr>
              <a:t>By 27 Oct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400800" y="475488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4213D"/>
                </a:solidFill>
                <a:latin typeface="IBM Plex Sans"/>
              </a:rPr>
              <a:t>Demo and repo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400800" y="5532120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Spread and z-score alerts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Walk-forward backtest, net of costs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Demo video and GitHub</a:t>
            </a:r>
          </a:p>
        </p:txBody>
      </p:sp>
      <p:sp>
        <p:nvSpPr>
          <p:cNvPr id="145" name="Oval 144"/>
          <p:cNvSpPr/>
          <p:nvPr/>
        </p:nvSpPr>
        <p:spPr>
          <a:xfrm>
            <a:off x="11978640" y="3383280"/>
            <a:ext cx="594360" cy="59436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978640" y="425196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C9931B"/>
                </a:solidFill>
                <a:latin typeface="IBM Plex Sans"/>
              </a:rPr>
              <a:t>20-21 Nov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978640" y="475488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4213D"/>
                </a:solidFill>
                <a:latin typeface="IBM Plex Sans"/>
              </a:rPr>
              <a:t>Finale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978640" y="5532120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Dashboard polish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Evidence-backed explanations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4213D"/>
                </a:solidFill>
                <a:latin typeface="IBM Plex Sans"/>
              </a:rPr>
              <a:t>Expiry-aware analysis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22960" y="7955279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13D"/>
                </a:solidFill>
                <a:latin typeface="IBM Plex Sans"/>
              </a:rPr>
              <a:t>Later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22960" y="859536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143000" y="8595360"/>
            <a:ext cx="46634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4213D"/>
                </a:solidFill>
                <a:latin typeface="IBM Plex Sans"/>
              </a:rPr>
              <a:t>Silver, crude and base metals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400800" y="859536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20840" y="8595360"/>
            <a:ext cx="46634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4213D"/>
                </a:solidFill>
                <a:latin typeface="IBM Plex Sans"/>
              </a:rPr>
              <a:t>Licensed intraday and bid-ask data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1978640" y="859536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2298680" y="8595360"/>
            <a:ext cx="46634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4213D"/>
                </a:solidFill>
                <a:latin typeface="IBM Plex Sans"/>
              </a:rPr>
              <a:t>ML only where a leakage-safe task justifies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TextBox 143"/>
          <p:cNvSpPr txBox="1"/>
          <p:nvPr/>
        </p:nvSpPr>
        <p:spPr>
          <a:xfrm>
            <a:off x="822960" y="1508760"/>
            <a:ext cx="1664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14213D"/>
                </a:solidFill>
                <a:latin typeface="Montserrat"/>
              </a:rPr>
              <a:t>What a raw price gap cannot do</a:t>
            </a:r>
          </a:p>
        </p:txBody>
      </p:sp>
      <p:graphicFrame>
        <p:nvGraphicFramePr>
          <p:cNvPr id="145" name="Table 144"/>
          <p:cNvGraphicFramePr>
            <a:graphicFrameLocks noGrp="1"/>
          </p:cNvGraphicFramePr>
          <p:nvPr/>
        </p:nvGraphicFramePr>
        <p:xfrm>
          <a:off x="822960" y="2743200"/>
          <a:ext cx="11887199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9"/>
                <a:gridCol w="2194560"/>
                <a:gridCol w="2194560"/>
              </a:tblGrid>
              <a:tr h="86214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IBM Plex Sans"/>
                        </a:rPr>
                        <a:t>Capability</a:t>
                      </a:r>
                    </a:p>
                  </a:txBody>
                  <a:tcPr anchor="ctr" marL="18288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IBM Plex Sans"/>
                        </a:rPr>
                        <a:t>Raw gap</a:t>
                      </a:r>
                    </a:p>
                  </a:txBody>
                  <a:tcPr anchor="ctr" marL="18288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IBM Plex Sans"/>
                        </a:rPr>
                        <a:t>AURUM IQ</a:t>
                      </a:r>
                    </a:p>
                  </a:txBody>
                  <a:tcPr anchor="ctr" marL="182880">
                    <a:solidFill>
                      <a:srgbClr val="14213D"/>
                    </a:solidFill>
                  </a:tcPr>
                </a:tc>
              </a:tr>
              <a:tr h="862148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14213D"/>
                          </a:solidFill>
                          <a:latin typeface="IBM Plex Sans"/>
                        </a:rPr>
                        <a:t>Adjusts for unit, quote basis and purity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5B6B80"/>
                          </a:solidFill>
                          <a:latin typeface="IBM Plex Sans"/>
                        </a:rPr>
                        <a:t>No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C9931B"/>
                          </a:solidFill>
                          <a:latin typeface="IBM Plex Sans"/>
                        </a:rPr>
                        <a:t>Yes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</a:tr>
              <a:tr h="862148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14213D"/>
                          </a:solidFill>
                          <a:latin typeface="IBM Plex Sans"/>
                        </a:rPr>
                        <a:t>Checks data quality before any signal</a:t>
                      </a:r>
                    </a:p>
                  </a:txBody>
                  <a:tcPr anchor="ctr" marL="182880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5B6B80"/>
                          </a:solidFill>
                          <a:latin typeface="IBM Plex Sans"/>
                        </a:rPr>
                        <a:t>No</a:t>
                      </a:r>
                    </a:p>
                  </a:txBody>
                  <a:tcPr anchor="ctr" marL="182880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C9931B"/>
                          </a:solidFill>
                          <a:latin typeface="IBM Plex Sans"/>
                        </a:rPr>
                        <a:t>Yes</a:t>
                      </a:r>
                    </a:p>
                  </a:txBody>
                  <a:tcPr anchor="ctr" marL="182880">
                    <a:solidFill>
                      <a:srgbClr val="EEF1F5"/>
                    </a:solidFill>
                  </a:tcPr>
                </a:tc>
              </a:tr>
              <a:tr h="862148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14213D"/>
                          </a:solidFill>
                          <a:latin typeface="IBM Plex Sans"/>
                        </a:rPr>
                        <a:t>Tracks each contract by its own expiry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5B6B80"/>
                          </a:solidFill>
                          <a:latin typeface="IBM Plex Sans"/>
                        </a:rPr>
                        <a:t>No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C9931B"/>
                          </a:solidFill>
                          <a:latin typeface="IBM Plex Sans"/>
                        </a:rPr>
                        <a:t>Yes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</a:tr>
              <a:tr h="862148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14213D"/>
                          </a:solidFill>
                          <a:latin typeface="IBM Plex Sans"/>
                        </a:rPr>
                        <a:t>Tests the signal net of costs and liquidity</a:t>
                      </a:r>
                    </a:p>
                  </a:txBody>
                  <a:tcPr anchor="ctr" marL="182880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5B6B80"/>
                          </a:solidFill>
                          <a:latin typeface="IBM Plex Sans"/>
                        </a:rPr>
                        <a:t>No</a:t>
                      </a:r>
                    </a:p>
                  </a:txBody>
                  <a:tcPr anchor="ctr" marL="182880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C9931B"/>
                          </a:solidFill>
                          <a:latin typeface="IBM Plex Sans"/>
                        </a:rPr>
                        <a:t>Yes</a:t>
                      </a:r>
                    </a:p>
                  </a:txBody>
                  <a:tcPr anchor="ctr" marL="182880">
                    <a:solidFill>
                      <a:srgbClr val="EEF1F5"/>
                    </a:solidFill>
                  </a:tcPr>
                </a:tc>
              </a:tr>
              <a:tr h="862148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14213D"/>
                          </a:solidFill>
                          <a:latin typeface="IBM Plex Sans"/>
                        </a:rPr>
                        <a:t>Explains every alert with its calculation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5B6B80"/>
                          </a:solidFill>
                          <a:latin typeface="IBM Plex Sans"/>
                        </a:rPr>
                        <a:t>No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C9931B"/>
                          </a:solidFill>
                          <a:latin typeface="IBM Plex Sans"/>
                        </a:rPr>
                        <a:t>Yes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</a:tr>
              <a:tr h="862152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14213D"/>
                          </a:solidFill>
                          <a:latin typeface="IBM Plex Sans"/>
                        </a:rPr>
                        <a:t>Reports "no edge" when that is the answer</a:t>
                      </a:r>
                    </a:p>
                  </a:txBody>
                  <a:tcPr anchor="ctr" marL="182880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5B6B80"/>
                          </a:solidFill>
                          <a:latin typeface="IBM Plex Sans"/>
                        </a:rPr>
                        <a:t>No</a:t>
                      </a:r>
                    </a:p>
                  </a:txBody>
                  <a:tcPr anchor="ctr" marL="182880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C9931B"/>
                          </a:solidFill>
                          <a:latin typeface="IBM Plex Sans"/>
                        </a:rPr>
                        <a:t>Yes</a:t>
                      </a:r>
                    </a:p>
                  </a:txBody>
                  <a:tcPr anchor="ctr" marL="182880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146" name="Rounded Rectangle 145"/>
          <p:cNvSpPr/>
          <p:nvPr/>
        </p:nvSpPr>
        <p:spPr>
          <a:xfrm>
            <a:off x="13075920" y="2743200"/>
            <a:ext cx="4389120" cy="60350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3395960" y="301752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4213D"/>
                </a:solidFill>
                <a:latin typeface="IBM Plex Sans"/>
              </a:rPr>
              <a:t>Honest by design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3395960" y="3749039"/>
            <a:ext cx="3749039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5B6B80"/>
                </a:solidFill>
                <a:latin typeface="IBM Plex Sans"/>
              </a:rPr>
              <a:t>Research and decision support only.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5B6B80"/>
                </a:solidFill>
                <a:latin typeface="IBM Plex Sans"/>
              </a:rPr>
              <a:t>Historical results do not guarantee future returns.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5B6B80"/>
                </a:solidFill>
                <a:latin typeface="IBM Plex Sans"/>
              </a:rPr>
              <a:t>An anomaly is not automatically a tradable opportunity.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22960" y="9098280"/>
            <a:ext cx="1664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B6B80"/>
                </a:solidFill>
                <a:latin typeface="IBM Plex Sans"/>
              </a:rPr>
              <a:t>Comparison shows what a plain price-gap view does. Competing products are not yet verified.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0"/>
          <p:cNvGrpSpPr/>
          <p:nvPr/>
        </p:nvGrpSpPr>
        <p:grpSpPr>
          <a:xfrm>
            <a:off x="4239144" y="5736501"/>
            <a:ext cx="8898075" cy="2077107"/>
            <a:chOff x="0" y="180975"/>
            <a:chExt cx="11864100" cy="2769476"/>
          </a:xfrm>
        </p:grpSpPr>
        <p:sp>
          <p:nvSpPr>
            <p:cNvPr id="149" name="Google Shape;149;p20"/>
            <p:cNvSpPr txBox="1"/>
            <p:nvPr/>
          </p:nvSpPr>
          <p:spPr>
            <a:xfrm>
              <a:off x="0" y="180975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0" y="2581151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20"/>
          <p:cNvGrpSpPr/>
          <p:nvPr/>
        </p:nvGrpSpPr>
        <p:grpSpPr>
          <a:xfrm>
            <a:off x="2554002" y="5409216"/>
            <a:ext cx="12268350" cy="1305429"/>
            <a:chOff x="0" y="19050"/>
            <a:chExt cx="16357800" cy="1740572"/>
          </a:xfrm>
        </p:grpSpPr>
        <p:sp>
          <p:nvSpPr>
            <p:cNvPr id="152" name="Google Shape;152;p20"/>
            <p:cNvSpPr txBox="1"/>
            <p:nvPr/>
          </p:nvSpPr>
          <p:spPr>
            <a:xfrm>
              <a:off x="0" y="19050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409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0" y="1390322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01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20"/>
          <p:cNvGrpSpPr/>
          <p:nvPr/>
        </p:nvGrpSpPr>
        <p:grpSpPr>
          <a:xfrm>
            <a:off x="1873714" y="4696929"/>
            <a:ext cx="13628822" cy="4488047"/>
            <a:chOff x="2753902" y="4797891"/>
            <a:chExt cx="13628822" cy="4488047"/>
          </a:xfrm>
        </p:grpSpPr>
        <p:sp>
          <p:nvSpPr>
            <p:cNvPr id="155" name="Google Shape;155;p20"/>
            <p:cNvSpPr txBox="1"/>
            <p:nvPr/>
          </p:nvSpPr>
          <p:spPr>
            <a:xfrm rot="-348051">
              <a:off x="2847493" y="5401630"/>
              <a:ext cx="12071717" cy="2462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5499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9088" u="none" cap="none" strike="noStrike">
                  <a:solidFill>
                    <a:srgbClr val="1D1D1F"/>
                  </a:solidFill>
                  <a:latin typeface="Caveat"/>
                  <a:ea typeface="Caveat"/>
                  <a:cs typeface="Caveat"/>
                  <a:sym typeface="Caveat"/>
                </a:rPr>
                <a:t>Thank</a:t>
              </a:r>
              <a:endParaRPr>
                <a:latin typeface="Caveat"/>
                <a:ea typeface="Caveat"/>
                <a:cs typeface="Caveat"/>
                <a:sym typeface="Caveat"/>
              </a:endParaRPr>
            </a:p>
          </p:txBody>
        </p:sp>
        <p:sp>
          <p:nvSpPr>
            <p:cNvPr id="156" name="Google Shape;156;p20"/>
            <p:cNvSpPr txBox="1"/>
            <p:nvPr/>
          </p:nvSpPr>
          <p:spPr>
            <a:xfrm>
              <a:off x="4695023" y="6732039"/>
              <a:ext cx="11687700" cy="25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5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0167" u="none" cap="none" strike="noStrike">
                  <a:solidFill>
                    <a:srgbClr val="1D1D1F"/>
                  </a:solidFill>
                  <a:latin typeface="Caveat"/>
                  <a:ea typeface="Caveat"/>
                  <a:cs typeface="Caveat"/>
                  <a:sym typeface="Caveat"/>
                </a:rPr>
                <a:t>you!</a:t>
              </a:r>
              <a:endParaRPr>
                <a:latin typeface="Caveat"/>
                <a:ea typeface="Caveat"/>
                <a:cs typeface="Caveat"/>
                <a:sym typeface="Caveat"/>
              </a:endParaRPr>
            </a:p>
          </p:txBody>
        </p:sp>
      </p:grpSp>
      <p:pic>
        <p:nvPicPr>
          <p:cNvPr id="157" name="Google Shape;157;p20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